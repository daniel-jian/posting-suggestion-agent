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Shape 3"/>
          <p:cNvSpPr/>
          <p:nvPr/>
        </p:nvSpPr>
        <p:spPr>
          <a:xfrm>
            <a:off x="868680" y="50292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BuchhaltungsButler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hape 4"/>
          <p:cNvSpPr/>
          <p:nvPr/>
        </p:nvSpPr>
        <p:spPr>
          <a:xfrm>
            <a:off x="868680" y="2487240"/>
            <a:ext cx="7863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Agentic Booking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Suggestion Architecture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Shape 5"/>
          <p:cNvSpPr/>
          <p:nvPr/>
        </p:nvSpPr>
        <p:spPr>
          <a:xfrm>
            <a:off x="887040" y="38862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BHB work case • 30-minute discussion • prototype-backed architecture and trade-offs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" name="Line 6"/>
          <p:cNvCxnSpPr/>
          <p:nvPr/>
        </p:nvCxnSpPr>
        <p:spPr>
          <a:xfrm>
            <a:off x="868680" y="5532120"/>
            <a:ext cx="10515960" cy="360"/>
          </a:xfrm>
          <a:prstGeom prst="straightConnector1">
            <a:avLst/>
          </a:prstGeom>
          <a:ln w="22000">
            <a:solidFill>
              <a:srgbClr val="ffffff"/>
            </a:solidFill>
            <a:round/>
          </a:ln>
        </p:spPr>
      </p:cxnSp>
      <p:sp>
        <p:nvSpPr>
          <p:cNvPr id="7" name="Shape 7"/>
          <p:cNvSpPr/>
          <p:nvPr/>
        </p:nvSpPr>
        <p:spPr>
          <a:xfrm>
            <a:off x="877680" y="5632560"/>
            <a:ext cx="10058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GitHub: github.com/Daniel-Jian/posting-suggestion-agent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Demo: posting-suggestion-agent.daniel-jian.workers.dev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1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Problem and Strategy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11" name="Shape 5"/>
          <p:cNvSpPr/>
          <p:nvPr/>
        </p:nvSpPr>
        <p:spPr>
          <a:xfrm>
            <a:off x="868680" y="2011680"/>
            <a:ext cx="7954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11111"/>
                </a:solidFill>
                <a:latin typeface="Arial"/>
              </a:rPr>
              <a:t>The deterministic posting engine is valuable, but brittle for edge cases.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896040" y="3337560"/>
            <a:ext cx="89607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Deterministic first: exact, cheap, auditable cases.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AI/RAG second: ambiguous cases with useful past examples.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Human review where evidence, VAT or split postings remain uncertain.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BHB core remains system of record.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/>
          <p:cNvSpPr/>
          <p:nvPr/>
        </p:nvSpPr>
        <p:spPr>
          <a:xfrm>
            <a:off x="360" y="0"/>
            <a:ext cx="12191760" cy="6857640"/>
          </a:xfrm>
          <a:prstGeom prst="rect">
            <a:avLst/>
          </a:prstGeom>
          <a:solidFill>
            <a:srgbClr val="ffffff"/>
          </a:solidFill>
          <a:ln w="10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7120" rIns="87120" tIns="87120" bIns="8712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Prototype Architecture On Cloudflare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16" name="Shape 5"/>
          <p:cNvSpPr/>
          <p:nvPr/>
        </p:nvSpPr>
        <p:spPr>
          <a:xfrm>
            <a:off x="868680" y="2057400"/>
            <a:ext cx="2103120" cy="91440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API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suggestion-runs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" name="Line 6"/>
          <p:cNvCxnSpPr>
            <a:stCxn id="16" idx="3"/>
            <a:endCxn id="18" idx="1"/>
          </p:cNvCxnSpPr>
          <p:nvPr/>
        </p:nvCxnSpPr>
        <p:spPr>
          <a:xfrm>
            <a:off x="2971800" y="2514600"/>
            <a:ext cx="224856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18" name="Shape 7"/>
          <p:cNvSpPr/>
          <p:nvPr/>
        </p:nvSpPr>
        <p:spPr>
          <a:xfrm>
            <a:off x="5220000" y="2057400"/>
            <a:ext cx="157248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Hono Worker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3391200" y="3207240"/>
            <a:ext cx="157248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Embeddings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5211720" y="3207240"/>
            <a:ext cx="1572480" cy="91440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Vectorize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Top 3 / 0.65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053120" y="2057400"/>
            <a:ext cx="157248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Workers AI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Qwen3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" name="Line 14"/>
          <p:cNvCxnSpPr>
            <a:stCxn id="21" idx="3"/>
            <a:endCxn id="23" idx="1"/>
          </p:cNvCxnSpPr>
          <p:nvPr/>
        </p:nvCxnSpPr>
        <p:spPr>
          <a:xfrm>
            <a:off x="8625600" y="2514600"/>
            <a:ext cx="31356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23" name="Shape 15"/>
          <p:cNvSpPr/>
          <p:nvPr/>
        </p:nvSpPr>
        <p:spPr>
          <a:xfrm>
            <a:off x="8938800" y="2057400"/>
            <a:ext cx="1572480" cy="91440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JSON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Response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52040" y="45176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</a:rPr>
              <a:t>Learning loop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96040" y="5157720"/>
            <a:ext cx="9417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02124"/>
                </a:solidFill>
                <a:latin typeface="Arial"/>
              </a:rPr>
              <a:t>Only unresolved or low-confidence cases enter this prototype.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02124"/>
                </a:solidFill>
                <a:latin typeface="Arial"/>
              </a:rPr>
              <a:t>Output includes confidence, evidence, risks and similar examples.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842400" y="3207240"/>
            <a:ext cx="2358000" cy="91440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API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accepted-postings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734400" y="148968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</a:rPr>
              <a:t>Posting suggestion loop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" name="Line 1"/>
          <p:cNvCxnSpPr>
            <a:stCxn id="18" idx="-1"/>
            <a:endCxn id="21" idx="1"/>
          </p:cNvCxnSpPr>
          <p:nvPr/>
        </p:nvCxnSpPr>
        <p:spPr>
          <a:xfrm>
            <a:off x="6792480" y="2514600"/>
            <a:ext cx="26100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cxnSp>
        <p:nvCxnSpPr>
          <p:cNvPr id="29" name="Line 2"/>
          <p:cNvCxnSpPr>
            <a:stCxn id="26" idx="3"/>
            <a:endCxn id="19" idx="1"/>
          </p:cNvCxnSpPr>
          <p:nvPr/>
        </p:nvCxnSpPr>
        <p:spPr>
          <a:xfrm>
            <a:off x="3200400" y="3664440"/>
            <a:ext cx="19116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cxnSp>
        <p:nvCxnSpPr>
          <p:cNvPr id="30" name="Line 3"/>
          <p:cNvCxnSpPr>
            <a:stCxn id="19" idx="3"/>
            <a:endCxn id="20" idx="1"/>
          </p:cNvCxnSpPr>
          <p:nvPr/>
        </p:nvCxnSpPr>
        <p:spPr>
          <a:xfrm>
            <a:off x="4963680" y="3664440"/>
            <a:ext cx="24840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cxnSp>
        <p:nvCxnSpPr>
          <p:cNvPr id="31" name="Line 5"/>
          <p:cNvCxnSpPr>
            <a:stCxn id="20" idx="0"/>
            <a:endCxn id="18" idx="2"/>
          </p:cNvCxnSpPr>
          <p:nvPr/>
        </p:nvCxnSpPr>
        <p:spPr>
          <a:xfrm flipV="1">
            <a:off x="5997960" y="2971800"/>
            <a:ext cx="8640" cy="23580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32" name="Shape 18"/>
          <p:cNvSpPr/>
          <p:nvPr/>
        </p:nvSpPr>
        <p:spPr>
          <a:xfrm>
            <a:off x="8578800" y="4001400"/>
            <a:ext cx="227880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Human approve/edit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" name="Line 7"/>
          <p:cNvCxnSpPr>
            <a:stCxn id="32" idx="0"/>
            <a:endCxn id="23" idx="2"/>
          </p:cNvCxnSpPr>
          <p:nvPr/>
        </p:nvCxnSpPr>
        <p:spPr>
          <a:xfrm flipV="1">
            <a:off x="9718200" y="2971800"/>
            <a:ext cx="7200" cy="10299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cxnSp>
        <p:nvCxnSpPr>
          <p:cNvPr id="34" name=""/>
          <p:cNvCxnSpPr>
            <a:stCxn id="32" idx="1"/>
            <a:endCxn id="26" idx="2"/>
          </p:cNvCxnSpPr>
          <p:nvPr/>
        </p:nvCxnSpPr>
        <p:spPr>
          <a:xfrm rot="10800000">
            <a:off x="2021040" y="4121640"/>
            <a:ext cx="6557760" cy="337320"/>
          </a:xfrm>
          <a:prstGeom prst="bentConnector2">
            <a:avLst/>
          </a:prstGeom>
          <a:ln w="12600">
            <a:solidFill>
              <a:srgbClr val="3465a4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1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Custo</a:t>
            </a: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mer </a:t>
            </a: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Review </a:t>
            </a: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Experi</a:t>
            </a: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38" name="Shape 5"/>
          <p:cNvSpPr/>
          <p:nvPr/>
        </p:nvSpPr>
        <p:spPr>
          <a:xfrm>
            <a:off x="896040" y="2743200"/>
            <a:ext cx="10076760" cy="342900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Transaction: CARD PAYMENT OFFICE DEPOT, 84.72 EUR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Suggested account: 4930 Bürobedarf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Confidence: 0.82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Evidence: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- receipt text mentions office supplies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- similar accepted posting used 4930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Risks: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- no invoice number found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Actions: Approve | Edit | Send to manual review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868680" y="1568520"/>
            <a:ext cx="10104120" cy="11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</a:rPr>
              <a:t>Unresolved booking &gt; AI suggestion &gt; confidence/evidence/risks &gt; </a:t>
            </a:r>
            <a:r>
              <a:rPr b="1" lang="en-US" sz="2400" spc="-1" strike="noStrike">
                <a:solidFill>
                  <a:srgbClr val="111111"/>
                </a:solidFill>
                <a:latin typeface="Arial"/>
              </a:rPr>
              <a:t>approve/edit/reject &gt; learning memory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2"/>
          <p:cNvSpPr/>
          <p:nvPr/>
        </p:nvSpPr>
        <p:spPr>
          <a:xfrm>
            <a:off x="0" y="-228240"/>
            <a:ext cx="12191760" cy="6857640"/>
          </a:xfrm>
          <a:prstGeom prst="rect">
            <a:avLst/>
          </a:prstGeom>
          <a:solidFill>
            <a:srgbClr val="ffffff"/>
          </a:solidFill>
          <a:ln w="1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Human-In-The-Loop And Trust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43" name="Shape 5"/>
          <p:cNvSpPr/>
          <p:nvPr/>
        </p:nvSpPr>
        <p:spPr>
          <a:xfrm>
            <a:off x="896040" y="1828800"/>
            <a:ext cx="3154320" cy="91440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auto_post_candidate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strong candidate only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4258800" y="1828800"/>
            <a:ext cx="3382920" cy="91440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needs_human_approval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useful but uncertain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7790760" y="1828800"/>
            <a:ext cx="3154320" cy="91440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manual_review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weak evidence or risk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896040" y="3186720"/>
            <a:ext cx="96922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Human sees confidence, evidence, risks and similar examples.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Uncertain cases are never silently posted.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Accepted corrections become learning examples.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0"/>
          <p:cNvSpPr/>
          <p:nvPr/>
        </p:nvSpPr>
        <p:spPr>
          <a:xfrm>
            <a:off x="896040" y="4597560"/>
            <a:ext cx="9966600" cy="125064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Manual review when: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split payout, reverse charge, missing receipt, multiple candidates, high amount, new supplier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1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Target AWS Architecture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0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51" name="Shape 5"/>
          <p:cNvSpPr/>
          <p:nvPr/>
        </p:nvSpPr>
        <p:spPr>
          <a:xfrm>
            <a:off x="796680" y="1828800"/>
            <a:ext cx="1417320" cy="91440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BHB Core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API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2" name="Line 6"/>
          <p:cNvCxnSpPr>
            <a:stCxn id="51" idx="3"/>
            <a:endCxn id="53" idx="1"/>
          </p:cNvCxnSpPr>
          <p:nvPr/>
        </p:nvCxnSpPr>
        <p:spPr>
          <a:xfrm>
            <a:off x="2214000" y="2286000"/>
            <a:ext cx="17712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53" name="Shape 7"/>
          <p:cNvSpPr/>
          <p:nvPr/>
        </p:nvSpPr>
        <p:spPr>
          <a:xfrm>
            <a:off x="2390760" y="1828800"/>
            <a:ext cx="124344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API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Gateway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4" name="Line 8"/>
          <p:cNvCxnSpPr>
            <a:stCxn id="53" idx="3"/>
            <a:endCxn id="55" idx="1"/>
          </p:cNvCxnSpPr>
          <p:nvPr/>
        </p:nvCxnSpPr>
        <p:spPr>
          <a:xfrm>
            <a:off x="3634200" y="2286000"/>
            <a:ext cx="17064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55" name="Shape 9"/>
          <p:cNvSpPr/>
          <p:nvPr/>
        </p:nvSpPr>
        <p:spPr>
          <a:xfrm>
            <a:off x="3804480" y="1828800"/>
            <a:ext cx="152712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TypeScript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Lambda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Line 10"/>
          <p:cNvCxnSpPr>
            <a:stCxn id="55" idx="3"/>
            <a:endCxn id="57" idx="1"/>
          </p:cNvCxnSpPr>
          <p:nvPr/>
        </p:nvCxnSpPr>
        <p:spPr>
          <a:xfrm>
            <a:off x="5331600" y="2286000"/>
            <a:ext cx="13932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57" name="Shape 11"/>
          <p:cNvSpPr/>
          <p:nvPr/>
        </p:nvSpPr>
        <p:spPr>
          <a:xfrm>
            <a:off x="5470560" y="1828800"/>
            <a:ext cx="135324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Step Functions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/ SQS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" name="Line 12"/>
          <p:cNvCxnSpPr>
            <a:stCxn id="57" idx="3"/>
            <a:endCxn id="59" idx="1"/>
          </p:cNvCxnSpPr>
          <p:nvPr/>
        </p:nvCxnSpPr>
        <p:spPr>
          <a:xfrm>
            <a:off x="6823800" y="2286000"/>
            <a:ext cx="16884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59" name="Shape 13"/>
          <p:cNvSpPr/>
          <p:nvPr/>
        </p:nvSpPr>
        <p:spPr>
          <a:xfrm>
            <a:off x="6992280" y="1828800"/>
            <a:ext cx="117972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Python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AI/RAG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" name="Line 14"/>
          <p:cNvCxnSpPr>
            <a:stCxn id="59" idx="3"/>
            <a:endCxn id="61" idx="1"/>
          </p:cNvCxnSpPr>
          <p:nvPr/>
        </p:nvCxnSpPr>
        <p:spPr>
          <a:xfrm>
            <a:off x="8172000" y="2286000"/>
            <a:ext cx="19872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61" name="Shape 15"/>
          <p:cNvSpPr/>
          <p:nvPr/>
        </p:nvSpPr>
        <p:spPr>
          <a:xfrm>
            <a:off x="8370360" y="1828800"/>
            <a:ext cx="1234440" cy="91440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Model Gateway / Bedrock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896040" y="3949560"/>
            <a:ext cx="9966600" cy="82260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02124"/>
                </a:solidFill>
                <a:latin typeface="Arial"/>
              </a:rPr>
              <a:t>Storage: Aurora for accepted postings and audit state • S3 for documents • vector store for retrieval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896040" y="5030280"/>
            <a:ext cx="9966600" cy="73116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</a:rPr>
              <a:t>Human review feeds corrected examples back into vector memory.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>
            <a:off x="9757800" y="1828800"/>
            <a:ext cx="1444320" cy="91440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Human Review UI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5" name="Line 9"/>
          <p:cNvCxnSpPr>
            <a:stCxn id="61" idx="3"/>
            <a:endCxn id="64" idx="1"/>
          </p:cNvCxnSpPr>
          <p:nvPr/>
        </p:nvCxnSpPr>
        <p:spPr>
          <a:xfrm>
            <a:off x="9604800" y="2286000"/>
            <a:ext cx="15336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1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RAG, Embeddings, And Confidence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69" name="Shape 5"/>
          <p:cNvSpPr/>
          <p:nvPr/>
        </p:nvSpPr>
        <p:spPr>
          <a:xfrm>
            <a:off x="868680" y="1874520"/>
            <a:ext cx="1572480" cy="74952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Accepted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posting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" name="Line 6"/>
          <p:cNvCxnSpPr/>
          <p:nvPr/>
        </p:nvCxnSpPr>
        <p:spPr>
          <a:xfrm>
            <a:off x="2441160" y="2249280"/>
            <a:ext cx="20160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71" name="Shape 7"/>
          <p:cNvSpPr/>
          <p:nvPr/>
        </p:nvSpPr>
        <p:spPr>
          <a:xfrm>
            <a:off x="2642760" y="1874520"/>
            <a:ext cx="1572480" cy="74952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Embedding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" name="Line 8"/>
          <p:cNvCxnSpPr/>
          <p:nvPr/>
        </p:nvCxnSpPr>
        <p:spPr>
          <a:xfrm>
            <a:off x="4215240" y="2249280"/>
            <a:ext cx="20160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73" name="Shape 9"/>
          <p:cNvSpPr/>
          <p:nvPr/>
        </p:nvSpPr>
        <p:spPr>
          <a:xfrm>
            <a:off x="4416480" y="1874520"/>
            <a:ext cx="1572480" cy="74952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Vector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memory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4" name="Line 10"/>
          <p:cNvCxnSpPr/>
          <p:nvPr/>
        </p:nvCxnSpPr>
        <p:spPr>
          <a:xfrm>
            <a:off x="5989320" y="2249280"/>
            <a:ext cx="20124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75" name="Shape 11"/>
          <p:cNvSpPr/>
          <p:nvPr/>
        </p:nvSpPr>
        <p:spPr>
          <a:xfrm>
            <a:off x="6190560" y="1874520"/>
            <a:ext cx="1572480" cy="74952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Unresolved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case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6" name="Line 12"/>
          <p:cNvCxnSpPr/>
          <p:nvPr/>
        </p:nvCxnSpPr>
        <p:spPr>
          <a:xfrm>
            <a:off x="7763040" y="2249280"/>
            <a:ext cx="201600" cy="360"/>
          </a:xfrm>
          <a:prstGeom prst="straightConnector1">
            <a:avLst/>
          </a:prstGeom>
          <a:ln w="18000">
            <a:solidFill>
              <a:srgbClr val="6f7275"/>
            </a:solidFill>
            <a:round/>
          </a:ln>
        </p:spPr>
      </p:cxnSp>
      <p:sp>
        <p:nvSpPr>
          <p:cNvPr id="77" name="Shape 13"/>
          <p:cNvSpPr/>
          <p:nvPr/>
        </p:nvSpPr>
        <p:spPr>
          <a:xfrm>
            <a:off x="7964280" y="1874520"/>
            <a:ext cx="1572480" cy="749520"/>
          </a:xfrm>
          <a:prstGeom prst="rect">
            <a:avLst/>
          </a:prstGeom>
          <a:solidFill>
            <a:srgbClr val="3d43f2"/>
          </a:solidFill>
          <a:ln w="16000">
            <a:solidFill>
              <a:srgbClr val="3d43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Top 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matches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8" name="Line 14"/>
          <p:cNvCxnSpPr/>
          <p:nvPr/>
        </p:nvCxnSpPr>
        <p:spPr>
          <a:xfrm>
            <a:off x="9537120" y="2249280"/>
            <a:ext cx="20160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79" name="Shape 15"/>
          <p:cNvSpPr/>
          <p:nvPr/>
        </p:nvSpPr>
        <p:spPr>
          <a:xfrm>
            <a:off x="9738360" y="1874520"/>
            <a:ext cx="1572480" cy="749520"/>
          </a:xfrm>
          <a:prstGeom prst="rect">
            <a:avLst/>
          </a:prstGeom>
          <a:solidFill>
            <a:srgbClr val="ffffff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LLM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02124"/>
                </a:solidFill>
                <a:latin typeface="Arial"/>
              </a:rPr>
              <a:t>context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896040" y="3657600"/>
            <a:ext cx="96922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RAG retrieves customer-specific accepted postings, not general accounting truth.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Threshold 0.65: examples support the answer, they do not decide it.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Confidence combines model score, retrieval strength and risk signals.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124"/>
                </a:solidFill>
                <a:latin typeface="Arial"/>
              </a:rPr>
              <a:t>German examples needed more approved similar cases to raise confidence.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724680" y="3152520"/>
            <a:ext cx="8595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111111"/>
                </a:solidFill>
                <a:latin typeface="Arial"/>
              </a:rPr>
              <a:t>Prototype: challenges &amp; solutions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1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Models And Trade-Offs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85" name="Shape 5"/>
          <p:cNvSpPr/>
          <p:nvPr/>
        </p:nvSpPr>
        <p:spPr>
          <a:xfrm>
            <a:off x="896040" y="1576800"/>
            <a:ext cx="4663080" cy="208080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02124"/>
                </a:solidFill>
                <a:latin typeface="Arial"/>
              </a:rPr>
              <a:t>Qwen3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better on my German demo cases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good reasoning,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faster &amp; cheaper,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strict JSON schema support not relied 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6172200" y="1576800"/>
            <a:ext cx="4663080" cy="2080800"/>
          </a:xfrm>
          <a:prstGeom prst="rect">
            <a:avLst/>
          </a:prstGeom>
          <a:solidFill>
            <a:srgbClr val="f7f8fa"/>
          </a:solidFill>
          <a:ln w="16000">
            <a:solidFill>
              <a:srgbClr val="6f72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02124"/>
                </a:solidFill>
                <a:latin typeface="Arial"/>
              </a:rPr>
              <a:t>Llama 3.3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confirmed JSON mode support,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acceptable German,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more expensive,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02124"/>
                </a:solidFill>
                <a:latin typeface="Arial"/>
              </a:rPr>
              <a:t>- over 3x slower in testing.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896040" y="4005720"/>
            <a:ext cx="9783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</a:rPr>
              <a:t>Demo decision: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11111"/>
                </a:solidFill>
                <a:latin typeface="Arial"/>
              </a:rPr>
              <a:t>Qwen3 because latency and demo reliability matter.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</a:rPr>
              <a:t>Production decision: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11111"/>
                </a:solidFill>
                <a:latin typeface="Arial"/>
              </a:rPr>
              <a:t>benchmark model quality, latency, JSON reliability, acceptance rate, and correction rate.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1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02124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868680" y="65844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11111"/>
                </a:solidFill>
                <a:latin typeface="Arial"/>
              </a:rPr>
              <a:t>Lessons, Risks, and Next Steps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Line 4"/>
          <p:cNvCxnSpPr/>
          <p:nvPr/>
        </p:nvCxnSpPr>
        <p:spPr>
          <a:xfrm>
            <a:off x="868680" y="1417320"/>
            <a:ext cx="10104480" cy="360"/>
          </a:xfrm>
          <a:prstGeom prst="straightConnector1">
            <a:avLst/>
          </a:prstGeom>
          <a:ln w="18000">
            <a:solidFill>
              <a:srgbClr val="3d43f2"/>
            </a:solidFill>
            <a:round/>
          </a:ln>
        </p:spPr>
      </p:cxnSp>
      <p:sp>
        <p:nvSpPr>
          <p:cNvPr id="91" name="Shape 5"/>
          <p:cNvSpPr/>
          <p:nvPr/>
        </p:nvSpPr>
        <p:spPr>
          <a:xfrm>
            <a:off x="896040" y="1600200"/>
            <a:ext cx="9920880" cy="34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Reliable structured JSON was the key implementation challenge.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German receipts required max_tokens increase from 700 to 1500.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Next: stricter validation, evaluation set, review queue, audit logging, tenant isolation and AWS integration plan.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124"/>
                </a:solidFill>
                <a:latin typeface="Arial"/>
              </a:rPr>
              <a:t>Metrics: automation rate, acceptance rate, correction rate, error patterns.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896040" y="543492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f6368"/>
                </a:solidFill>
                <a:latin typeface="Arial"/>
              </a:rPr>
              <a:t>GitHub: github.com/Daniel-Jian/posting-suggestion-agent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f6368"/>
                </a:solidFill>
                <a:latin typeface="Arial"/>
              </a:rPr>
              <a:t>Demo: posting-suggestion-agent.daniel-jian.workers.dev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Jian</dc:creator>
  <dc:description/>
  <dc:language>en-US</dc:language>
  <cp:lastModifiedBy/>
  <dcterms:modified xsi:type="dcterms:W3CDTF">2026-06-28T21:07:20Z</dcterms:modified>
  <cp:revision>15</cp:revision>
  <dc:subject/>
  <dc:title>Agentic Booking Suggestion Architecture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